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saveSubsetFonts="1" autoCompressPictures="0">
  <p:sldMasterIdLst>
    <p:sldMasterId id="2147483648" r:id="rId1"/>
  </p:sldMasterIdLst>
  <p:notesMasterIdLst>
    <p:notesMasterId r:id="rId19"/>
  </p:notesMasterIdLst>
  <p:sldIdLst>
    <p:sldId id="256" r:id="rId2"/>
    <p:sldId id="257" r:id="rId3"/>
    <p:sldId id="258" r:id="rId4"/>
    <p:sldId id="259" r:id="rId5"/>
    <p:sldId id="260" r:id="rId6"/>
    <p:sldId id="261" r:id="rId7"/>
    <p:sldId id="272" r:id="rId8"/>
    <p:sldId id="262" r:id="rId9"/>
    <p:sldId id="263" r:id="rId10"/>
    <p:sldId id="264" r:id="rId11"/>
    <p:sldId id="265" r:id="rId12"/>
    <p:sldId id="266" r:id="rId13"/>
    <p:sldId id="268" r:id="rId14"/>
    <p:sldId id="273" r:id="rId15"/>
    <p:sldId id="269" r:id="rId16"/>
    <p:sldId id="270" r:id="rId17"/>
    <p:sldId id="271" r:id="rId18"/>
  </p:sldIdLst>
  <p:sldSz cx="12192000" cy="6858000"/>
  <p:notesSz cx="6858000" cy="9144000"/>
  <p:defaultTextStyle>
    <a:defPPr lvl="0">
      <a:defRPr lang="en-US"/>
    </a:defPPr>
    <a:lvl1pPr marL="0" lv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lvl="1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lvl="2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lvl="3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lvl="4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lvl="5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lvl="6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lvl="7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lvl="8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384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90651C3A-4460-11DB-9652-00E08161165F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59" d="100"/>
          <a:sy n="59" d="100"/>
        </p:scale>
        <p:origin x="940" y="52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380AEC4-E4A0-445B-98A2-22EC80955800}" type="datetimeFigureOut">
              <a:rPr lang="en-US" smtClean="0"/>
              <a:t>7/3/2026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1000" y="685800"/>
            <a:ext cx="6096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4EFCE3F-C5B2-4913-AE57-7A44FE02523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798240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4" name="Google Shape;154;p10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55" name="Google Shape;155;p10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66947723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8" name="Google Shape;168;p12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69" name="Google Shape;169;p12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710186640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Google Shape;189;p15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0" name="Google Shape;190;p15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50291197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400" y="2130436"/>
            <a:ext cx="103632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800" y="3886200"/>
            <a:ext cx="85344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969A12-EDAC-4818-B4B5-EBDF1BA0D272}" type="datetimeFigureOut">
              <a:rPr lang="en-IN" smtClean="0"/>
              <a:pPr/>
              <a:t>03-07-2026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30CB69-38D0-4F00-B4C1-61D463DE6479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7726946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969A12-EDAC-4818-B4B5-EBDF1BA0D272}" type="datetimeFigureOut">
              <a:rPr lang="en-IN" smtClean="0"/>
              <a:pPr/>
              <a:t>03-07-2026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30CB69-38D0-4F00-B4C1-61D463DE6479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8402188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84" y="4406911"/>
            <a:ext cx="103632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84" y="2906713"/>
            <a:ext cx="103632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969A12-EDAC-4818-B4B5-EBDF1BA0D272}" type="datetimeFigureOut">
              <a:rPr lang="en-IN" smtClean="0"/>
              <a:pPr/>
              <a:t>03-07-2026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30CB69-38D0-4F00-B4C1-61D463DE6479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1432350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812800" y="1600206"/>
            <a:ext cx="7213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8229600" y="1600206"/>
            <a:ext cx="7213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969A12-EDAC-4818-B4B5-EBDF1BA0D272}" type="datetimeFigureOut">
              <a:rPr lang="en-IN" smtClean="0"/>
              <a:pPr/>
              <a:t>03-07-2026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30CB69-38D0-4F00-B4C1-61D463DE6479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5278654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535113"/>
            <a:ext cx="5386917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600" y="2174875"/>
            <a:ext cx="5386917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374" y="1535113"/>
            <a:ext cx="5389033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374" y="2174875"/>
            <a:ext cx="5389033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969A12-EDAC-4818-B4B5-EBDF1BA0D272}" type="datetimeFigureOut">
              <a:rPr lang="en-IN" smtClean="0"/>
              <a:pPr/>
              <a:t>03-07-2026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30CB69-38D0-4F00-B4C1-61D463DE6479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2292430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969A12-EDAC-4818-B4B5-EBDF1BA0D272}" type="datetimeFigureOut">
              <a:rPr lang="en-IN" smtClean="0"/>
              <a:pPr/>
              <a:t>03-07-2026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30CB69-38D0-4F00-B4C1-61D463DE6479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0982301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969A12-EDAC-4818-B4B5-EBDF1BA0D272}" type="datetimeFigureOut">
              <a:rPr lang="en-IN" smtClean="0"/>
              <a:pPr/>
              <a:t>03-07-2026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30CB69-38D0-4F00-B4C1-61D463DE6479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42329424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603" y="273050"/>
            <a:ext cx="4011084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733" y="273061"/>
            <a:ext cx="6815667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603" y="1435103"/>
            <a:ext cx="4011084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969A12-EDAC-4818-B4B5-EBDF1BA0D272}" type="datetimeFigureOut">
              <a:rPr lang="en-IN" smtClean="0"/>
              <a:pPr/>
              <a:t>03-07-2026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30CB69-38D0-4F00-B4C1-61D463DE6479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64105456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717" y="4800600"/>
            <a:ext cx="73152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717" y="612775"/>
            <a:ext cx="73152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717" y="5367338"/>
            <a:ext cx="73152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969A12-EDAC-4818-B4B5-EBDF1BA0D272}" type="datetimeFigureOut">
              <a:rPr lang="en-IN" smtClean="0"/>
              <a:pPr/>
              <a:t>03-07-2026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30CB69-38D0-4F00-B4C1-61D463DE6479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6890780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969A12-EDAC-4818-B4B5-EBDF1BA0D272}" type="datetimeFigureOut">
              <a:rPr lang="en-IN" smtClean="0"/>
              <a:pPr/>
              <a:t>03-07-2026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30CB69-38D0-4F00-B4C1-61D463DE6479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89823052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1785600" y="274649"/>
            <a:ext cx="36576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12800" y="274649"/>
            <a:ext cx="107696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B969A12-EDAC-4818-B4B5-EBDF1BA0D272}" type="datetimeFigureOut">
              <a:rPr lang="en-IN" smtClean="0"/>
              <a:pPr/>
              <a:t>03-07-2026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530CB69-38D0-4F00-B4C1-61D463DE6479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4253323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600" y="274638"/>
            <a:ext cx="109728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600206"/>
            <a:ext cx="109728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600" y="635636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B969A12-EDAC-4818-B4B5-EBDF1BA0D272}" type="datetimeFigureOut">
              <a:rPr lang="en-IN" smtClean="0"/>
              <a:pPr/>
              <a:t>03-07-2026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600" y="6356361"/>
            <a:ext cx="3860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600" y="6356361"/>
            <a:ext cx="284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530CB69-38D0-4F00-B4C1-61D463DE6479}" type="slidenum">
              <a:rPr lang="en-IN" smtClean="0"/>
              <a:pPr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5085101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9" r:id="rId1"/>
    <p:sldLayoutId id="2147483710" r:id="rId2"/>
    <p:sldLayoutId id="2147483711" r:id="rId3"/>
    <p:sldLayoutId id="2147483712" r:id="rId4"/>
    <p:sldLayoutId id="2147483713" r:id="rId5"/>
    <p:sldLayoutId id="2147483714" r:id="rId6"/>
    <p:sldLayoutId id="2147483715" r:id="rId7"/>
    <p:sldLayoutId id="2147483716" r:id="rId8"/>
    <p:sldLayoutId id="2147483717" r:id="rId9"/>
    <p:sldLayoutId id="2147483718" r:id="rId10"/>
    <p:sldLayoutId id="214748371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jpe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jpe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.jpe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/>
        </p:nvSpPr>
        <p:spPr>
          <a:xfrm>
            <a:off x="973015" y="1305342"/>
            <a:ext cx="10245969" cy="438581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lvl="0"/>
            <a:r>
              <a:rPr lang="en-US" b="1" dirty="0">
                <a:solidFill>
                  <a:schemeClr val="dk1"/>
                </a:solidFill>
                <a:highlight>
                  <a:srgbClr val="FFFF00"/>
                </a:highlight>
                <a:ea typeface="Calibri"/>
                <a:cs typeface="Calibri"/>
                <a:sym typeface="Calibri"/>
              </a:rPr>
              <a:t>Instructions:</a:t>
            </a:r>
          </a:p>
          <a:p>
            <a:endParaRPr lang="en-US" dirty="0"/>
          </a:p>
          <a:p>
            <a:pPr>
              <a:lnSpc>
                <a:spcPct val="150000"/>
              </a:lnSpc>
              <a:buFont typeface="Arial"/>
              <a:buChar char="•"/>
            </a:pPr>
            <a:r>
              <a:rPr lang="en-US" dirty="0"/>
              <a:t>A template has been provided to help you create a presentation for project evaluation.</a:t>
            </a:r>
          </a:p>
          <a:p>
            <a:pPr>
              <a:lnSpc>
                <a:spcPct val="150000"/>
              </a:lnSpc>
              <a:buFont typeface="Arial"/>
              <a:buChar char="•"/>
            </a:pPr>
            <a:r>
              <a:rPr lang="en-US" dirty="0"/>
              <a:t>Each slide includes guiding questions for preparing content.</a:t>
            </a:r>
          </a:p>
          <a:p>
            <a:pPr>
              <a:lnSpc>
                <a:spcPct val="150000"/>
              </a:lnSpc>
              <a:buFont typeface="Arial"/>
              <a:buChar char="•"/>
            </a:pPr>
            <a:r>
              <a:rPr lang="en-US" b="1" dirty="0"/>
              <a:t>Do not</a:t>
            </a:r>
            <a:r>
              <a:rPr lang="en-US" dirty="0"/>
              <a:t> format slides as Q&amp;A; remove all pre-filled content from the slides.</a:t>
            </a:r>
          </a:p>
          <a:p>
            <a:pPr>
              <a:lnSpc>
                <a:spcPct val="150000"/>
              </a:lnSpc>
              <a:buFont typeface="Arial"/>
              <a:buChar char="•"/>
            </a:pPr>
            <a:r>
              <a:rPr lang="en-US" dirty="0"/>
              <a:t>You are free to use your own style of presentation.</a:t>
            </a:r>
          </a:p>
          <a:p>
            <a:pPr>
              <a:lnSpc>
                <a:spcPct val="150000"/>
              </a:lnSpc>
              <a:buFont typeface="Arial"/>
              <a:buChar char="•"/>
            </a:pPr>
            <a:r>
              <a:rPr lang="en-US" dirty="0"/>
              <a:t>Use bullet points and concise content for clarity.</a:t>
            </a:r>
          </a:p>
          <a:p>
            <a:pPr>
              <a:lnSpc>
                <a:spcPct val="150000"/>
              </a:lnSpc>
              <a:buFont typeface="Arial"/>
              <a:buChar char="•"/>
            </a:pPr>
            <a:r>
              <a:rPr lang="en-US" dirty="0"/>
              <a:t>Incorporate images or illustrations where appropriate.</a:t>
            </a:r>
          </a:p>
          <a:p>
            <a:pPr>
              <a:lnSpc>
                <a:spcPct val="150000"/>
              </a:lnSpc>
              <a:buFont typeface="Arial"/>
              <a:buChar char="•"/>
            </a:pPr>
            <a:r>
              <a:rPr lang="en-US" dirty="0"/>
              <a:t>Follow the given presentation flow.</a:t>
            </a:r>
          </a:p>
          <a:p>
            <a:pPr>
              <a:lnSpc>
                <a:spcPct val="150000"/>
              </a:lnSpc>
              <a:buFont typeface="Arial"/>
              <a:buChar char="•"/>
            </a:pPr>
            <a:r>
              <a:rPr lang="en-US" dirty="0"/>
              <a:t>For Slide  (Business Model Canvas), remove the pre-filled content in each section before entering your own information. The pre-filled content is for guidance only.</a:t>
            </a:r>
          </a:p>
        </p:txBody>
      </p:sp>
      <p:pic>
        <p:nvPicPr>
          <p:cNvPr id="2" name="Picture 2" descr="C:\Users\HP\Downloads\PIERC 2.pn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810750" y="304506"/>
            <a:ext cx="1714500" cy="990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16447945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524142" y="1230594"/>
            <a:ext cx="11143716" cy="1470025"/>
          </a:xfrm>
        </p:spPr>
        <p:txBody>
          <a:bodyPr>
            <a:normAutofit/>
          </a:bodyPr>
          <a:lstStyle/>
          <a:p>
            <a:r>
              <a:rPr lang="en-US" dirty="0">
                <a:solidFill>
                  <a:srgbClr val="FF0000"/>
                </a:solidFill>
                <a:latin typeface="Book Antiqua" pitchFamily="18" charset="0"/>
              </a:rPr>
              <a:t>Pre Incubation</a:t>
            </a:r>
            <a:br>
              <a:rPr lang="en-US" dirty="0">
                <a:solidFill>
                  <a:srgbClr val="FF0000"/>
                </a:solidFill>
                <a:latin typeface="Book Antiqua" pitchFamily="18" charset="0"/>
              </a:rPr>
            </a:br>
            <a:r>
              <a:rPr lang="en-US" dirty="0">
                <a:solidFill>
                  <a:srgbClr val="FF0000"/>
                </a:solidFill>
                <a:latin typeface="Book Antiqua" pitchFamily="18" charset="0"/>
              </a:rPr>
              <a:t>Innovation / Startup Name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895600" y="3266904"/>
            <a:ext cx="6400800" cy="2819400"/>
          </a:xfrm>
        </p:spPr>
        <p:txBody>
          <a:bodyPr>
            <a:normAutofit fontScale="62500" lnSpcReduction="20000"/>
          </a:bodyPr>
          <a:lstStyle/>
          <a:p>
            <a:r>
              <a:rPr lang="en-US" b="1" dirty="0">
                <a:latin typeface="Book Antiqua" pitchFamily="18" charset="0"/>
              </a:rPr>
              <a:t>Group Leader Name</a:t>
            </a:r>
          </a:p>
          <a:p>
            <a:r>
              <a:rPr lang="en-US" dirty="0">
                <a:latin typeface="Book Antiqua" pitchFamily="18" charset="0"/>
              </a:rPr>
              <a:t>Team Member 2</a:t>
            </a:r>
          </a:p>
          <a:p>
            <a:r>
              <a:rPr lang="en-US" dirty="0">
                <a:latin typeface="Book Antiqua" pitchFamily="18" charset="0"/>
              </a:rPr>
              <a:t>Team Member 3</a:t>
            </a:r>
          </a:p>
          <a:p>
            <a:r>
              <a:rPr lang="en-US" dirty="0">
                <a:latin typeface="Book Antiqua" pitchFamily="18" charset="0"/>
              </a:rPr>
              <a:t>Team Member 4</a:t>
            </a:r>
          </a:p>
          <a:p>
            <a:r>
              <a:rPr lang="en-US" dirty="0">
                <a:latin typeface="Book Antiqua" pitchFamily="18" charset="0"/>
              </a:rPr>
              <a:t>…</a:t>
            </a:r>
          </a:p>
          <a:p>
            <a:endParaRPr lang="en-US" dirty="0">
              <a:latin typeface="Book Antiqua" pitchFamily="18" charset="0"/>
            </a:endParaRPr>
          </a:p>
          <a:p>
            <a:r>
              <a:rPr lang="en-US" b="1" dirty="0">
                <a:latin typeface="Book Antiqua" pitchFamily="18" charset="0"/>
              </a:rPr>
              <a:t>Faculty Guide /Mentor</a:t>
            </a:r>
          </a:p>
          <a:p>
            <a:endParaRPr lang="en-US" b="1" dirty="0">
              <a:latin typeface="Book Antiqua" pitchFamily="18" charset="0"/>
            </a:endParaRPr>
          </a:p>
          <a:p>
            <a:r>
              <a:rPr lang="en-US" b="1" dirty="0">
                <a:latin typeface="Book Antiqua" pitchFamily="18" charset="0"/>
              </a:rPr>
              <a:t>Domain</a:t>
            </a:r>
          </a:p>
          <a:p>
            <a:endParaRPr lang="en-US" dirty="0">
              <a:latin typeface="Book Antiqua" pitchFamily="18" charset="0"/>
            </a:endParaRPr>
          </a:p>
        </p:txBody>
      </p:sp>
      <p:pic>
        <p:nvPicPr>
          <p:cNvPr id="2050" name="Picture 2" descr="C:\Users\HP\Downloads\PIERC 2.pn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674273" y="245091"/>
            <a:ext cx="1714500" cy="990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01F4FA01-EBDB-1077-9927-B9D3D81A47FA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063" y="157962"/>
            <a:ext cx="2991394" cy="8254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85898035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987353"/>
            <a:ext cx="10515600" cy="703335"/>
          </a:xfrm>
        </p:spPr>
        <p:txBody>
          <a:bodyPr>
            <a:normAutofit fontScale="90000"/>
          </a:bodyPr>
          <a:lstStyle/>
          <a:p>
            <a:r>
              <a:rPr lang="en-US" dirty="0"/>
              <a:t>Problem statement / Opportunity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490662" y="2559050"/>
            <a:ext cx="9210675" cy="1536700"/>
          </a:xfrm>
        </p:spPr>
        <p:txBody>
          <a:bodyPr/>
          <a:lstStyle/>
          <a:p>
            <a:pPr lvl="0"/>
            <a:r>
              <a:rPr lang="en-US" dirty="0"/>
              <a:t>What Problem/Pain are you solving?</a:t>
            </a:r>
          </a:p>
          <a:p>
            <a:pPr lvl="0"/>
            <a:r>
              <a:rPr lang="en-US" dirty="0"/>
              <a:t>Who has this problem (Customer)?</a:t>
            </a:r>
          </a:p>
          <a:p>
            <a:pPr marL="0" indent="0">
              <a:buNone/>
            </a:pPr>
            <a:endParaRPr lang="en-US" dirty="0"/>
          </a:p>
        </p:txBody>
      </p:sp>
      <p:pic>
        <p:nvPicPr>
          <p:cNvPr id="3074" name="Picture 2" descr="C:\Users\HP\Downloads\PIERC 2.pn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083706" y="190500"/>
            <a:ext cx="1714500" cy="990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8D15ACF8-73B7-F00A-A581-C930EC15EB57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063" y="157962"/>
            <a:ext cx="2991394" cy="8254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9252732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-1100817" y="-56881"/>
            <a:ext cx="10515600" cy="449637"/>
          </a:xfrm>
        </p:spPr>
        <p:txBody>
          <a:bodyPr>
            <a:normAutofit fontScale="90000"/>
          </a:bodyPr>
          <a:lstStyle/>
          <a:p>
            <a:pPr lvl="0"/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br>
              <a:rPr lang="en-US" dirty="0"/>
            </a:br>
            <a:r>
              <a:rPr lang="en-US" dirty="0"/>
              <a:t>Your Proposed Solution</a:t>
            </a:r>
            <a:br>
              <a:rPr lang="en-US" dirty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738868" y="1079798"/>
            <a:ext cx="10515600" cy="3289110"/>
          </a:xfrm>
        </p:spPr>
        <p:txBody>
          <a:bodyPr>
            <a:normAutofit fontScale="92500" lnSpcReduction="20000"/>
          </a:bodyPr>
          <a:lstStyle/>
          <a:p>
            <a:pPr lvl="0"/>
            <a:endParaRPr lang="en-US" dirty="0"/>
          </a:p>
          <a:p>
            <a:pPr marL="0" lvl="0" indent="0">
              <a:buNone/>
            </a:pPr>
            <a:endParaRPr lang="en-US" dirty="0"/>
          </a:p>
          <a:p>
            <a:pPr lvl="0"/>
            <a:endParaRPr lang="en-US" dirty="0"/>
          </a:p>
          <a:p>
            <a:pPr lvl="0"/>
            <a:endParaRPr lang="en-US" dirty="0"/>
          </a:p>
          <a:p>
            <a:pPr lvl="0"/>
            <a:endParaRPr lang="en-US" dirty="0"/>
          </a:p>
          <a:p>
            <a:pPr lvl="0"/>
            <a:r>
              <a:rPr lang="en-US" dirty="0"/>
              <a:t>What does your solution do?</a:t>
            </a:r>
          </a:p>
          <a:p>
            <a:pPr lvl="0"/>
            <a:r>
              <a:rPr lang="en-US" dirty="0"/>
              <a:t>How does it Work? </a:t>
            </a:r>
          </a:p>
          <a:p>
            <a:endParaRPr lang="en-US" dirty="0"/>
          </a:p>
        </p:txBody>
      </p:sp>
      <p:pic>
        <p:nvPicPr>
          <p:cNvPr id="4098" name="Picture 2" descr="C:\Users\HP\Downloads\PIERC 2.pn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179239" y="217795"/>
            <a:ext cx="1714500" cy="990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40FBAE72-E466-734C-431C-E5AC28AEDE75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063" y="157962"/>
            <a:ext cx="2991394" cy="8254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2262796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1130587"/>
            <a:ext cx="10515600" cy="743237"/>
          </a:xfrm>
        </p:spPr>
        <p:txBody>
          <a:bodyPr>
            <a:normAutofit fontScale="90000"/>
          </a:bodyPr>
          <a:lstStyle/>
          <a:p>
            <a:r>
              <a:rPr lang="en-US" dirty="0"/>
              <a:t>Differentiation </a:t>
            </a:r>
            <a:br>
              <a:rPr lang="en-US" dirty="0"/>
            </a:br>
            <a:r>
              <a:rPr lang="en-US" sz="2700" dirty="0"/>
              <a:t>(How different from existing solution available in market?) </a:t>
            </a:r>
            <a:endParaRPr lang="en-IN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38200" y="2017059"/>
            <a:ext cx="10515600" cy="4159904"/>
          </a:xfrm>
        </p:spPr>
        <p:txBody>
          <a:bodyPr/>
          <a:lstStyle/>
          <a:p>
            <a:pPr algn="just"/>
            <a:endParaRPr lang="en-IN" dirty="0"/>
          </a:p>
        </p:txBody>
      </p:sp>
      <p:pic>
        <p:nvPicPr>
          <p:cNvPr id="5122" name="Picture 2" descr="C:\Users\HP\Downloads\PIERC 2.pn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192887" y="30707"/>
            <a:ext cx="1714500" cy="990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C9AA8E04-D0C1-D19B-3130-1045F61B378B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063" y="157962"/>
            <a:ext cx="2991394" cy="8254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2650199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1358947"/>
            <a:ext cx="10515600" cy="498382"/>
          </a:xfrm>
        </p:spPr>
        <p:txBody>
          <a:bodyPr>
            <a:normAutofit fontScale="90000"/>
          </a:bodyPr>
          <a:lstStyle/>
          <a:p>
            <a:pPr lvl="0"/>
            <a:r>
              <a:rPr lang="en-US" dirty="0"/>
              <a:t>Competitor Analysis</a:t>
            </a:r>
            <a:br>
              <a:rPr lang="en-US" dirty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90625" y="2682875"/>
            <a:ext cx="10515600" cy="2184400"/>
          </a:xfrm>
        </p:spPr>
        <p:txBody>
          <a:bodyPr/>
          <a:lstStyle/>
          <a:p>
            <a:pPr lvl="0"/>
            <a:r>
              <a:rPr lang="en-US" dirty="0"/>
              <a:t>Name of Competitor</a:t>
            </a:r>
          </a:p>
          <a:p>
            <a:pPr lvl="0"/>
            <a:r>
              <a:rPr lang="en-US" dirty="0"/>
              <a:t>How you are different to your competitor?</a:t>
            </a:r>
          </a:p>
          <a:p>
            <a:endParaRPr lang="en-US" dirty="0"/>
          </a:p>
        </p:txBody>
      </p:sp>
      <p:pic>
        <p:nvPicPr>
          <p:cNvPr id="6146" name="Picture 2" descr="C:\Users\HP\Downloads\PIERC 2.pn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233831" y="108613"/>
            <a:ext cx="1714500" cy="990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DE660092-4B06-EA38-F327-FDB5B18DA462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063" y="157962"/>
            <a:ext cx="2991394" cy="8254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2002130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1398961"/>
            <a:ext cx="10515600" cy="426664"/>
          </a:xfrm>
        </p:spPr>
        <p:txBody>
          <a:bodyPr>
            <a:normAutofit fontScale="90000"/>
          </a:bodyPr>
          <a:lstStyle/>
          <a:p>
            <a:pPr lvl="0"/>
            <a:r>
              <a:rPr lang="en-US" dirty="0"/>
              <a:t>Idea Validation from Customer/Experts</a:t>
            </a:r>
            <a:br>
              <a:rPr lang="en-US" dirty="0"/>
            </a:b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063" y="157962"/>
            <a:ext cx="2991394" cy="825480"/>
          </a:xfrm>
          <a:prstGeom prst="rect">
            <a:avLst/>
          </a:prstGeom>
        </p:spPr>
      </p:pic>
      <p:pic>
        <p:nvPicPr>
          <p:cNvPr id="7" name="Picture 2" descr="C:\Users\HP\Downloads\PIERC 2.png">
            <a:extLst>
              <a:ext uri="{FF2B5EF4-FFF2-40B4-BE49-F238E27FC236}">
                <a16:creationId xmlns:a16="http://schemas.microsoft.com/office/drawing/2014/main" id="{2DCA6586-574B-55F7-1E57-06A386B0A5AA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233831" y="108613"/>
            <a:ext cx="1714500" cy="990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134857776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1398961"/>
            <a:ext cx="10515600" cy="426664"/>
          </a:xfrm>
        </p:spPr>
        <p:txBody>
          <a:bodyPr>
            <a:normAutofit fontScale="90000"/>
          </a:bodyPr>
          <a:lstStyle/>
          <a:p>
            <a:pPr lvl="0"/>
            <a:r>
              <a:rPr lang="en-US" dirty="0">
                <a:solidFill>
                  <a:prstClr val="black"/>
                </a:solidFill>
              </a:rPr>
              <a:t>Business Model</a:t>
            </a:r>
            <a:br>
              <a:rPr lang="en-US" dirty="0">
                <a:solidFill>
                  <a:prstClr val="black"/>
                </a:solidFill>
              </a:rPr>
            </a:br>
            <a:endParaRPr lang="en-US" dirty="0"/>
          </a:p>
        </p:txBody>
      </p:sp>
      <p:graphicFrame>
        <p:nvGraphicFramePr>
          <p:cNvPr id="4" name="Content Placeholder 3"/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1749348001"/>
              </p:ext>
            </p:extLst>
          </p:nvPr>
        </p:nvGraphicFramePr>
        <p:xfrm>
          <a:off x="609600" y="1600200"/>
          <a:ext cx="10972800" cy="31140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576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6576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6576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r>
                        <a:rPr lang="en-US" b="1" dirty="0"/>
                        <a:t>Business Model Canvas Components</a:t>
                      </a:r>
                      <a:endParaRPr lang="en-US" dirty="0"/>
                    </a:p>
                  </a:txBody>
                  <a:tcPr marL="95416" marR="95416" anchor="ctr"/>
                </a:tc>
                <a:tc>
                  <a:txBody>
                    <a:bodyPr/>
                    <a:lstStyle/>
                    <a:p>
                      <a:r>
                        <a:rPr lang="en-US" b="1"/>
                        <a:t>Description</a:t>
                      </a:r>
                      <a:endParaRPr lang="en-US"/>
                    </a:p>
                  </a:txBody>
                  <a:tcPr marL="95416" marR="95416" anchor="ctr"/>
                </a:tc>
                <a:tc>
                  <a:txBody>
                    <a:bodyPr/>
                    <a:lstStyle/>
                    <a:p>
                      <a:r>
                        <a:rPr lang="en-US" b="1"/>
                        <a:t>Key Questions</a:t>
                      </a:r>
                      <a:endParaRPr lang="en-US"/>
                    </a:p>
                  </a:txBody>
                  <a:tcPr marL="95416" marR="95416" anchor="ctr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b="1" dirty="0"/>
                        <a:t>Customer Segments</a:t>
                      </a:r>
                      <a:endParaRPr lang="en-US" dirty="0"/>
                    </a:p>
                  </a:txBody>
                  <a:tcPr marL="95416" marR="95416"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The different groups of people or organizations a business serves.</a:t>
                      </a:r>
                    </a:p>
                  </a:txBody>
                  <a:tcPr marL="95416" marR="95416"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Who are your customers? What are their needs? Are there distinct customer segments?</a:t>
                      </a:r>
                    </a:p>
                  </a:txBody>
                  <a:tcPr marL="95416" marR="95416" anchor="ctr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b="1" dirty="0"/>
                        <a:t>Revenue Streams</a:t>
                      </a:r>
                      <a:endParaRPr lang="en-US" dirty="0"/>
                    </a:p>
                  </a:txBody>
                  <a:tcPr marL="95416" marR="95416"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The way your business makes money from customer segments.</a:t>
                      </a:r>
                    </a:p>
                  </a:txBody>
                  <a:tcPr marL="95416" marR="95416"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How do customers pay? What is the revenue model (e.g., subscription, one-time sale)?</a:t>
                      </a:r>
                    </a:p>
                  </a:txBody>
                  <a:tcPr marL="95416" marR="95416" anchor="ctr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r>
                        <a:rPr lang="en-US" b="1" dirty="0"/>
                        <a:t>Cost Structure</a:t>
                      </a:r>
                      <a:endParaRPr lang="en-US" dirty="0"/>
                    </a:p>
                  </a:txBody>
                  <a:tcPr marL="95416" marR="95416" anchor="ctr"/>
                </a:tc>
                <a:tc>
                  <a:txBody>
                    <a:bodyPr/>
                    <a:lstStyle/>
                    <a:p>
                      <a:r>
                        <a:rPr lang="en-US"/>
                        <a:t>The major costs involved in running your business model.</a:t>
                      </a:r>
                    </a:p>
                  </a:txBody>
                  <a:tcPr marL="95416" marR="95416" anchor="ctr"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What are the most significant costs? Which resources and activities are most expensive?</a:t>
                      </a:r>
                    </a:p>
                  </a:txBody>
                  <a:tcPr marL="95416" marR="95416" anchor="ctr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</a:tbl>
          </a:graphicData>
        </a:graphic>
      </p:graphicFrame>
      <p:pic>
        <p:nvPicPr>
          <p:cNvPr id="7170" name="Picture 2" descr="C:\Users\HP\Downloads\PIERC 2.pn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329364" y="0"/>
            <a:ext cx="1714500" cy="990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C0EE5207-64E5-DC81-6449-422DDFF6F5B4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063" y="157962"/>
            <a:ext cx="2991394" cy="8254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0246179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38200" y="681037"/>
            <a:ext cx="10515600" cy="1325563"/>
          </a:xfrm>
        </p:spPr>
        <p:txBody>
          <a:bodyPr/>
          <a:lstStyle/>
          <a:p>
            <a:r>
              <a:rPr lang="en-IN" dirty="0"/>
              <a:t>Time Frame and Milestone for Execution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IN" dirty="0"/>
          </a:p>
        </p:txBody>
      </p:sp>
      <p:pic>
        <p:nvPicPr>
          <p:cNvPr id="8194" name="Picture 2" descr="C:\Users\HP\Downloads\PIERC 2.pn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165592" y="108613"/>
            <a:ext cx="1714500" cy="990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45BCF346-28D8-57DC-7352-B744ADBC627B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063" y="157962"/>
            <a:ext cx="2991394" cy="8254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91517150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7" name="Google Shape;157;p10"/>
          <p:cNvSpPr txBox="1"/>
          <p:nvPr/>
        </p:nvSpPr>
        <p:spPr>
          <a:xfrm>
            <a:off x="1407240" y="329447"/>
            <a:ext cx="9520517" cy="5909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algn="ctr">
              <a:lnSpc>
                <a:spcPct val="90000"/>
              </a:lnSpc>
              <a:buClr>
                <a:srgbClr val="000000"/>
              </a:buClr>
              <a:buSzPts val="3600"/>
              <a:buFont typeface="Calibri"/>
              <a:buNone/>
            </a:pPr>
            <a:r>
              <a:rPr lang="en-US" sz="3600" b="1" kern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MARKET ANALYSIS</a:t>
            </a:r>
            <a:endParaRPr sz="3600" b="1" kern="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58" name="Google Shape;158;p10"/>
          <p:cNvSpPr txBox="1"/>
          <p:nvPr/>
        </p:nvSpPr>
        <p:spPr>
          <a:xfrm>
            <a:off x="941291" y="1533819"/>
            <a:ext cx="10452421" cy="240065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r>
              <a:rPr lang="en-US" b="1" kern="0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Try to answer the following questions:</a:t>
            </a:r>
            <a:endParaRPr sz="1400" kern="0" dirty="0">
              <a:solidFill>
                <a:srgbClr val="000000"/>
              </a:solidFill>
              <a:cs typeface="Arial"/>
              <a:sym typeface="Arial"/>
            </a:endParaRPr>
          </a:p>
          <a:p>
            <a:pPr marL="285750" indent="-171450">
              <a:buClr>
                <a:srgbClr val="000000"/>
              </a:buClr>
              <a:buSzPts val="1800"/>
              <a:buFont typeface="Arial"/>
              <a:buNone/>
            </a:pPr>
            <a:endParaRPr kern="0" dirty="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2900" indent="-342900">
              <a:buClr>
                <a:srgbClr val="00C818"/>
              </a:buClr>
              <a:buSzPts val="2400"/>
              <a:buFont typeface="Arial"/>
              <a:buChar char="•"/>
            </a:pPr>
            <a:r>
              <a:rPr lang="en-US" sz="2400" kern="0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What is the total available Market ? With proof</a:t>
            </a:r>
            <a:endParaRPr sz="1400" kern="0" dirty="0">
              <a:solidFill>
                <a:srgbClr val="000000"/>
              </a:solidFill>
              <a:cs typeface="Arial"/>
              <a:sym typeface="Arial"/>
            </a:endParaRPr>
          </a:p>
          <a:p>
            <a:pPr marL="342900" indent="-342900">
              <a:buClr>
                <a:srgbClr val="00C818"/>
              </a:buClr>
              <a:buSzPts val="2400"/>
              <a:buFont typeface="Arial"/>
              <a:buChar char="•"/>
            </a:pPr>
            <a:r>
              <a:rPr lang="en-US" sz="2400" kern="0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What is your target market ? (potential customers)</a:t>
            </a:r>
            <a:endParaRPr sz="2400" kern="0" dirty="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2900" indent="-342900">
              <a:buClr>
                <a:srgbClr val="00C818"/>
              </a:buClr>
              <a:buSzPts val="2400"/>
              <a:buFont typeface="Arial"/>
              <a:buChar char="•"/>
            </a:pPr>
            <a:r>
              <a:rPr lang="en-US" sz="2400" kern="0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Who will buy the product?</a:t>
            </a:r>
            <a:endParaRPr sz="1400" kern="0" dirty="0">
              <a:solidFill>
                <a:srgbClr val="000000"/>
              </a:solidFill>
              <a:cs typeface="Arial"/>
              <a:sym typeface="Arial"/>
            </a:endParaRPr>
          </a:p>
          <a:p>
            <a:pPr marL="342900" indent="-342900">
              <a:buClr>
                <a:srgbClr val="00C818"/>
              </a:buClr>
              <a:buSzPts val="2400"/>
              <a:buFont typeface="Arial"/>
              <a:buChar char="•"/>
            </a:pPr>
            <a:r>
              <a:rPr lang="en-US" sz="2400" kern="0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Who will be the end consumers?</a:t>
            </a:r>
            <a:endParaRPr sz="1400" kern="0" dirty="0">
              <a:solidFill>
                <a:srgbClr val="000000"/>
              </a:solidFill>
              <a:cs typeface="Arial"/>
              <a:sym typeface="Arial"/>
            </a:endParaRPr>
          </a:p>
          <a:p>
            <a:pPr>
              <a:buClr>
                <a:srgbClr val="000000"/>
              </a:buClr>
              <a:buFont typeface="Arial"/>
              <a:buNone/>
            </a:pPr>
            <a:endParaRPr kern="0" dirty="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0242" name="Picture 2" descr="C:\Users\HP\Downloads\PIERC 2.pn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343013" y="129612"/>
            <a:ext cx="1714500" cy="990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F669BF2F-E965-7DAC-1554-5058C1BD7FA4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063" y="157962"/>
            <a:ext cx="2991394" cy="8254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94962719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1" name="Google Shape;171;p12"/>
          <p:cNvSpPr txBox="1"/>
          <p:nvPr/>
        </p:nvSpPr>
        <p:spPr>
          <a:xfrm>
            <a:off x="1357297" y="495620"/>
            <a:ext cx="9520517" cy="59093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ctr">
              <a:lnSpc>
                <a:spcPct val="90000"/>
              </a:lnSpc>
              <a:buClr>
                <a:srgbClr val="000000"/>
              </a:buClr>
              <a:buFont typeface="Arial"/>
              <a:buNone/>
            </a:pPr>
            <a:r>
              <a:rPr lang="en-US" sz="3600" b="1" kern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GO TO MARKET STRATEGY </a:t>
            </a:r>
            <a:endParaRPr sz="3600" b="1" kern="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2" name="Google Shape;172;p12"/>
          <p:cNvSpPr txBox="1"/>
          <p:nvPr/>
        </p:nvSpPr>
        <p:spPr>
          <a:xfrm>
            <a:off x="559013" y="1896676"/>
            <a:ext cx="10887850" cy="470898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>
              <a:buClr>
                <a:srgbClr val="000000"/>
              </a:buClr>
              <a:buFont typeface="Arial"/>
              <a:buNone/>
            </a:pPr>
            <a:r>
              <a:rPr lang="en-US" b="1" kern="0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Try to answer the following questions:</a:t>
            </a:r>
            <a:endParaRPr sz="1400" kern="0" dirty="0">
              <a:solidFill>
                <a:srgbClr val="000000"/>
              </a:solidFill>
              <a:cs typeface="Arial"/>
              <a:sym typeface="Arial"/>
            </a:endParaRPr>
          </a:p>
          <a:p>
            <a:pPr>
              <a:buClr>
                <a:srgbClr val="000000"/>
              </a:buClr>
              <a:buFont typeface="Arial"/>
              <a:buNone/>
            </a:pPr>
            <a:endParaRPr kern="0" dirty="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>
              <a:buClr>
                <a:srgbClr val="00C818"/>
              </a:buClr>
              <a:buSzPts val="2400"/>
            </a:pPr>
            <a:r>
              <a:rPr lang="en-US" sz="2400" kern="0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1.What Strategy will you use to capture  the target market/addressable market ?</a:t>
            </a:r>
            <a:endParaRPr sz="1400" kern="0" dirty="0">
              <a:solidFill>
                <a:srgbClr val="000000"/>
              </a:solidFill>
              <a:cs typeface="Arial"/>
              <a:sym typeface="Arial"/>
            </a:endParaRPr>
          </a:p>
          <a:p>
            <a:pPr>
              <a:buClr>
                <a:srgbClr val="00C818"/>
              </a:buClr>
              <a:buSzPts val="2400"/>
            </a:pPr>
            <a:r>
              <a:rPr lang="en-US" sz="2400" kern="0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2.Who are the key players?</a:t>
            </a:r>
            <a:endParaRPr sz="1400" kern="0" dirty="0">
              <a:solidFill>
                <a:srgbClr val="000000"/>
              </a:solidFill>
              <a:cs typeface="Arial"/>
              <a:sym typeface="Arial"/>
            </a:endParaRPr>
          </a:p>
          <a:p>
            <a:pPr>
              <a:buClr>
                <a:srgbClr val="00C818"/>
              </a:buClr>
              <a:buSzPts val="2400"/>
            </a:pPr>
            <a:r>
              <a:rPr lang="en-US" sz="2400" kern="0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3.Describe about your critical partners</a:t>
            </a:r>
            <a:endParaRPr sz="1400" kern="0" dirty="0">
              <a:solidFill>
                <a:srgbClr val="000000"/>
              </a:solidFill>
              <a:cs typeface="Arial"/>
              <a:sym typeface="Arial"/>
            </a:endParaRPr>
          </a:p>
          <a:p>
            <a:pPr>
              <a:buClr>
                <a:srgbClr val="00C818"/>
              </a:buClr>
              <a:buSzPts val="2400"/>
            </a:pPr>
            <a:r>
              <a:rPr lang="en-US" sz="2400" kern="0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4.Describe, how will your product reach the customer</a:t>
            </a:r>
            <a:endParaRPr sz="1400" kern="0" dirty="0">
              <a:solidFill>
                <a:srgbClr val="000000"/>
              </a:solidFill>
              <a:cs typeface="Arial"/>
              <a:sym typeface="Arial"/>
            </a:endParaRPr>
          </a:p>
          <a:p>
            <a:pPr marL="342900" indent="-190500">
              <a:buClr>
                <a:srgbClr val="00C818"/>
              </a:buClr>
              <a:buSzPts val="2400"/>
              <a:buFont typeface="Arial"/>
              <a:buNone/>
            </a:pPr>
            <a:endParaRPr sz="2400" kern="0" dirty="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2900" indent="-190500">
              <a:buClr>
                <a:srgbClr val="00C818"/>
              </a:buClr>
              <a:buSzPts val="2400"/>
              <a:buFont typeface="Arial"/>
              <a:buNone/>
            </a:pPr>
            <a:endParaRPr sz="2400" kern="0" dirty="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2900" indent="-190500">
              <a:buClr>
                <a:srgbClr val="00C818"/>
              </a:buClr>
              <a:buSzPts val="2400"/>
              <a:buFont typeface="Arial"/>
              <a:buNone/>
            </a:pPr>
            <a:endParaRPr sz="2400" kern="0" dirty="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2900" indent="-190500">
              <a:buClr>
                <a:srgbClr val="00C818"/>
              </a:buClr>
              <a:buSzPts val="2400"/>
              <a:buFont typeface="Arial"/>
              <a:buNone/>
            </a:pPr>
            <a:endParaRPr sz="2400" kern="0" dirty="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marL="342900" indent="-190500">
              <a:buClr>
                <a:srgbClr val="00C818"/>
              </a:buClr>
              <a:buSzPts val="2400"/>
              <a:buFont typeface="Arial"/>
              <a:buNone/>
            </a:pPr>
            <a:endParaRPr sz="2400" kern="0" dirty="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>
              <a:buClr>
                <a:srgbClr val="000000"/>
              </a:buClr>
              <a:buFont typeface="Arial"/>
              <a:buNone/>
            </a:pPr>
            <a:r>
              <a:rPr lang="en-US" sz="2400" kern="0" dirty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(max. 2 slides allowed)</a:t>
            </a:r>
            <a:endParaRPr sz="1400" kern="0" dirty="0">
              <a:solidFill>
                <a:srgbClr val="000000"/>
              </a:solidFill>
              <a:cs typeface="Arial"/>
              <a:sym typeface="Arial"/>
            </a:endParaRPr>
          </a:p>
          <a:p>
            <a:pPr>
              <a:buClr>
                <a:srgbClr val="000000"/>
              </a:buClr>
              <a:buFont typeface="Arial"/>
              <a:buNone/>
            </a:pPr>
            <a:endParaRPr sz="2400" kern="0" dirty="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pic>
        <p:nvPicPr>
          <p:cNvPr id="11266" name="Picture 2" descr="C:\Users\HP\Downloads\PIERC 2.pn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122658" y="95951"/>
            <a:ext cx="1714500" cy="990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7C34FE88-9F33-CC24-EE40-73A23D015A38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063" y="157962"/>
            <a:ext cx="2991394" cy="8254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8286517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50377" y="1183341"/>
            <a:ext cx="11502639" cy="507347"/>
          </a:xfrm>
        </p:spPr>
        <p:txBody>
          <a:bodyPr>
            <a:normAutofit fontScale="90000"/>
          </a:bodyPr>
          <a:lstStyle/>
          <a:p>
            <a:r>
              <a:rPr lang="en-IN" dirty="0"/>
              <a:t>Team and Achievement Highlights by now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12290" name="Picture 2" descr="C:\Users\HP\Downloads\PIERC 2.pn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315717" y="3412"/>
            <a:ext cx="1714500" cy="990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C5E356DF-3992-8DF2-B203-4726E53069C9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063" y="157962"/>
            <a:ext cx="2991394" cy="8254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3315687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What stage is your startup at?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600" y="1600206"/>
            <a:ext cx="10972800" cy="4658090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n-US" sz="3600" b="1" dirty="0"/>
              <a:t>Select:</a:t>
            </a:r>
          </a:p>
          <a:p>
            <a:r>
              <a:rPr lang="en-US" b="1" dirty="0"/>
              <a:t>Idea </a:t>
            </a:r>
            <a:r>
              <a:rPr lang="en-US" dirty="0"/>
              <a:t>- </a:t>
            </a:r>
            <a:r>
              <a:rPr lang="en-US" sz="2800" dirty="0"/>
              <a:t>if you have just worked on the idea | </a:t>
            </a:r>
          </a:p>
          <a:p>
            <a:r>
              <a:rPr lang="en-US" b="1" dirty="0" err="1"/>
              <a:t>PoC</a:t>
            </a:r>
            <a:r>
              <a:rPr lang="en-US" dirty="0"/>
              <a:t> - </a:t>
            </a:r>
            <a:r>
              <a:rPr lang="en-US" sz="2800" dirty="0"/>
              <a:t>if you have a design, wireframe, </a:t>
            </a:r>
            <a:r>
              <a:rPr lang="en-US" sz="2800" dirty="0" err="1"/>
              <a:t>etc</a:t>
            </a:r>
            <a:r>
              <a:rPr lang="en-US" sz="2800" dirty="0"/>
              <a:t> ready | </a:t>
            </a:r>
          </a:p>
          <a:p>
            <a:r>
              <a:rPr lang="en-US" b="1" dirty="0"/>
              <a:t>Prototype</a:t>
            </a:r>
            <a:r>
              <a:rPr lang="en-US" dirty="0"/>
              <a:t> - </a:t>
            </a:r>
            <a:r>
              <a:rPr lang="en-US" sz="2800" dirty="0"/>
              <a:t>if you have a demonstrable product or solution </a:t>
            </a:r>
          </a:p>
          <a:p>
            <a:r>
              <a:rPr lang="en-US" b="1" dirty="0"/>
              <a:t>MVP</a:t>
            </a:r>
            <a:r>
              <a:rPr lang="en-US" dirty="0"/>
              <a:t> - </a:t>
            </a:r>
            <a:r>
              <a:rPr lang="en-US" sz="2800" dirty="0"/>
              <a:t>if you have the basic product or solution ready with all minimum features | </a:t>
            </a:r>
          </a:p>
          <a:p>
            <a:r>
              <a:rPr lang="en-US" b="1" dirty="0"/>
              <a:t>Validation</a:t>
            </a:r>
            <a:r>
              <a:rPr lang="en-US" dirty="0"/>
              <a:t> - </a:t>
            </a:r>
            <a:r>
              <a:rPr lang="en-US" sz="2800" dirty="0"/>
              <a:t>if you have customers testing/using your product |</a:t>
            </a:r>
          </a:p>
          <a:p>
            <a:r>
              <a:rPr lang="en-US" b="1" dirty="0"/>
              <a:t>Growth</a:t>
            </a:r>
            <a:r>
              <a:rPr lang="en-US" dirty="0"/>
              <a:t> - </a:t>
            </a:r>
            <a:r>
              <a:rPr lang="en-US" sz="2800" dirty="0"/>
              <a:t>if you have paying customers and you wish to scale up )</a:t>
            </a:r>
          </a:p>
        </p:txBody>
      </p:sp>
    </p:spTree>
    <p:extLst>
      <p:ext uri="{BB962C8B-B14F-4D97-AF65-F5344CB8AC3E}">
        <p14:creationId xmlns:p14="http://schemas.microsoft.com/office/powerpoint/2010/main" val="328907225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2" descr="C:\Users\HP\Downloads\PIERC 2.png">
            <a:extLst>
              <a:ext uri="{FF2B5EF4-FFF2-40B4-BE49-F238E27FC236}">
                <a16:creationId xmlns:a16="http://schemas.microsoft.com/office/drawing/2014/main" id="{9694BE22-134E-3A59-AAEA-A87366FDF887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370147" y="3412"/>
            <a:ext cx="1714500" cy="990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E0CDFA10-8CC9-32C1-A94F-39D0954C8BC4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063" y="157962"/>
            <a:ext cx="2991394" cy="825480"/>
          </a:xfrm>
          <a:prstGeom prst="rect">
            <a:avLst/>
          </a:prstGeom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BE41EE29-D6C7-1423-70D2-0C78968A795F}"/>
              </a:ext>
            </a:extLst>
          </p:cNvPr>
          <p:cNvSpPr txBox="1"/>
          <p:nvPr/>
        </p:nvSpPr>
        <p:spPr>
          <a:xfrm>
            <a:off x="185057" y="1305342"/>
            <a:ext cx="11571513" cy="50783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>
              <a:buFont typeface="Wingdings" panose="05000000000000000000" pitchFamily="2" charset="2"/>
              <a:buChar char="v"/>
            </a:pPr>
            <a:r>
              <a:rPr lang="en-IN" dirty="0">
                <a:highlight>
                  <a:srgbClr val="00FF00"/>
                </a:highlight>
              </a:rPr>
              <a:t>Funds will be allocated for areas such as: </a:t>
            </a:r>
          </a:p>
          <a:p>
            <a:endParaRPr lang="en-IN" dirty="0"/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IN" dirty="0"/>
              <a:t>Procurement of Raw Materials 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IN" dirty="0"/>
              <a:t>Development of Prototypes or Products 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IN" dirty="0"/>
              <a:t>Testing, Field Trials, and Certifications 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r>
              <a:rPr lang="en-IN" dirty="0"/>
              <a:t>Product Validation </a:t>
            </a:r>
          </a:p>
          <a:p>
            <a:pPr marL="285750" indent="-285750">
              <a:buFont typeface="Wingdings" panose="05000000000000000000" pitchFamily="2" charset="2"/>
              <a:buChar char="ü"/>
            </a:pPr>
            <a:endParaRPr lang="en-IN" dirty="0"/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en-IN" dirty="0">
                <a:highlight>
                  <a:srgbClr val="FF0000"/>
                </a:highlight>
              </a:rPr>
              <a:t>Funds will NOT be allocated for areas such as: 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IN" dirty="0"/>
              <a:t>Salaries for Founders, Employees, Interns, or Manpower 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IN" dirty="0"/>
              <a:t>Marketing Expenses (including Offline, Online, Digital, Social Media, or Personal promotions) Travel Expenses (such as attending Seminars, Conferences, Events, etc.) 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IN" dirty="0"/>
              <a:t>Office Setup Costs (including Rent, Furniture, Fixtures, Connectivity, etc.) 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IN" dirty="0"/>
              <a:t>Personal Electronic Devices (such as Laptops, Computers, Cameras, Mobile Phones, etc.) 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IN" dirty="0"/>
              <a:t>Legal Incorporation or Business Establishment Charges 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IN" dirty="0"/>
              <a:t>Personal Training or Skill Development Courses 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IN" dirty="0"/>
              <a:t>Product Launch or PR Activities Promotional Programs, Incentives, Offers, or Sales Activities</a:t>
            </a:r>
          </a:p>
          <a:p>
            <a:endParaRPr lang="en-IN" dirty="0">
              <a:highlight>
                <a:srgbClr val="FFFF00"/>
              </a:highlight>
            </a:endParaRPr>
          </a:p>
          <a:p>
            <a:r>
              <a:rPr lang="en-IN" dirty="0">
                <a:highlight>
                  <a:srgbClr val="FFFF00"/>
                </a:highlight>
              </a:rPr>
              <a:t>If you are selected for funding, you will need to submit a GST bill (Mandatory) for every purchase or transaction.</a:t>
            </a:r>
          </a:p>
        </p:txBody>
      </p:sp>
    </p:spTree>
    <p:extLst>
      <p:ext uri="{BB962C8B-B14F-4D97-AF65-F5344CB8AC3E}">
        <p14:creationId xmlns:p14="http://schemas.microsoft.com/office/powerpoint/2010/main" val="42367470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79144" y="987353"/>
            <a:ext cx="10515600" cy="868743"/>
          </a:xfrm>
        </p:spPr>
        <p:txBody>
          <a:bodyPr>
            <a:normAutofit fontScale="90000"/>
          </a:bodyPr>
          <a:lstStyle/>
          <a:p>
            <a:br>
              <a:rPr lang="en-IN" sz="4000" dirty="0"/>
            </a:br>
            <a:br>
              <a:rPr lang="en-IN" sz="4000" dirty="0"/>
            </a:br>
            <a:br>
              <a:rPr lang="en-IN" sz="4000" dirty="0"/>
            </a:br>
            <a:br>
              <a:rPr lang="en-IN" sz="4000" dirty="0"/>
            </a:br>
            <a:r>
              <a:rPr lang="en-IN" sz="4000" dirty="0"/>
              <a:t> </a:t>
            </a:r>
            <a:br>
              <a:rPr lang="en-IN" sz="4000" dirty="0"/>
            </a:br>
            <a:endParaRPr lang="en-IN" sz="4000" dirty="0"/>
          </a:p>
        </p:txBody>
      </p:sp>
      <p:graphicFrame>
        <p:nvGraphicFramePr>
          <p:cNvPr id="9" name="Table 8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53118878"/>
              </p:ext>
            </p:extLst>
          </p:nvPr>
        </p:nvGraphicFramePr>
        <p:xfrm>
          <a:off x="2128951" y="2216498"/>
          <a:ext cx="7711085" cy="41843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135466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354667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354667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35466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2292417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1454041">
                <a:tc>
                  <a:txBody>
                    <a:bodyPr/>
                    <a:lstStyle/>
                    <a:p>
                      <a:r>
                        <a:rPr lang="en-US" dirty="0"/>
                        <a:t>Sr. No.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Item Name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Category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Qty.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dirty="0"/>
                        <a:t>Amount</a:t>
                      </a:r>
                    </a:p>
                    <a:p>
                      <a:pPr marL="0" indent="0">
                        <a:buNone/>
                      </a:pPr>
                      <a:r>
                        <a:rPr lang="en-US" dirty="0"/>
                        <a:t>				</a:t>
                      </a:r>
                    </a:p>
                    <a:p>
                      <a:endParaRPr lang="en-US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080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080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3080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3080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3080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30800"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535699"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Total Amount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11" name="Rectangle 10"/>
          <p:cNvSpPr/>
          <p:nvPr/>
        </p:nvSpPr>
        <p:spPr>
          <a:xfrm>
            <a:off x="2002803" y="1164371"/>
            <a:ext cx="8049434" cy="1261884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sz="4000" dirty="0">
                <a:solidFill>
                  <a:prstClr val="black"/>
                </a:solidFill>
                <a:latin typeface="Calibri Light"/>
                <a:ea typeface="+mj-ea"/>
                <a:cs typeface="+mj-cs"/>
              </a:rPr>
              <a:t>Budget Plan</a:t>
            </a:r>
          </a:p>
          <a:p>
            <a:r>
              <a:rPr lang="en-IN" b="1" dirty="0"/>
              <a:t>Detailed bifurcation of fund requirement</a:t>
            </a:r>
            <a:endParaRPr lang="en-US" dirty="0"/>
          </a:p>
          <a:p>
            <a:endParaRPr lang="en-US" dirty="0"/>
          </a:p>
        </p:txBody>
      </p:sp>
      <p:pic>
        <p:nvPicPr>
          <p:cNvPr id="13314" name="Picture 2" descr="C:\Users\HP\Downloads\PIERC 2.pn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074742" y="95296"/>
            <a:ext cx="1714500" cy="990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82B894E5-71F3-D97F-616A-AC6E3CFD049A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063" y="157962"/>
            <a:ext cx="2991394" cy="8254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6815792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2" name="Google Shape;192;p15"/>
          <p:cNvSpPr txBox="1"/>
          <p:nvPr/>
        </p:nvSpPr>
        <p:spPr>
          <a:xfrm>
            <a:off x="611723" y="1607619"/>
            <a:ext cx="10811020" cy="452427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1600" dirty="0">
                <a:latin typeface="Book Antiqua" pitchFamily="18" charset="0"/>
              </a:rPr>
              <a:t>Here’s a rephrased version of your questions:</a:t>
            </a:r>
          </a:p>
          <a:p>
            <a:pPr marL="285750" indent="-285750">
              <a:lnSpc>
                <a:spcPct val="150000"/>
              </a:lnSpc>
              <a:buFont typeface="Wingdings" pitchFamily="2" charset="2"/>
              <a:buChar char="§"/>
            </a:pPr>
            <a:r>
              <a:rPr lang="en-US" sz="1600" dirty="0">
                <a:latin typeface="Book Antiqua" pitchFamily="18" charset="0"/>
                <a:ea typeface="Verdana" pitchFamily="34" charset="0"/>
              </a:rPr>
              <a:t>Is your business plan finalized? Yes/No</a:t>
            </a:r>
          </a:p>
          <a:p>
            <a:pPr marL="285750" indent="-285750">
              <a:lnSpc>
                <a:spcPct val="150000"/>
              </a:lnSpc>
              <a:buFont typeface="Wingdings" pitchFamily="2" charset="2"/>
              <a:buChar char="§"/>
            </a:pPr>
            <a:r>
              <a:rPr lang="en-US" sz="1600" dirty="0">
                <a:latin typeface="Book Antiqua" pitchFamily="18" charset="0"/>
                <a:ea typeface="Verdana" pitchFamily="34" charset="0"/>
              </a:rPr>
              <a:t>Have you registered your company or formed an LLP? Yes/No</a:t>
            </a:r>
          </a:p>
          <a:p>
            <a:pPr marL="285750" indent="-285750">
              <a:lnSpc>
                <a:spcPct val="150000"/>
              </a:lnSpc>
              <a:buFont typeface="Wingdings" pitchFamily="2" charset="2"/>
              <a:buChar char="§"/>
            </a:pPr>
            <a:r>
              <a:rPr lang="en-US" sz="1600" dirty="0">
                <a:latin typeface="Book Antiqua" pitchFamily="18" charset="0"/>
                <a:ea typeface="Verdana" pitchFamily="34" charset="0"/>
              </a:rPr>
              <a:t>Is your team fully assembled? Yes/No</a:t>
            </a:r>
          </a:p>
          <a:p>
            <a:pPr marL="285750" indent="-285750">
              <a:lnSpc>
                <a:spcPct val="150000"/>
              </a:lnSpc>
              <a:buFont typeface="Wingdings" pitchFamily="2" charset="2"/>
              <a:buChar char="§"/>
            </a:pPr>
            <a:r>
              <a:rPr lang="en-US" sz="1600" dirty="0">
                <a:latin typeface="Book Antiqua" pitchFamily="18" charset="0"/>
                <a:ea typeface="Verdana" pitchFamily="34" charset="0"/>
              </a:rPr>
              <a:t>Have you applied for intellectual property protection, such as a technical or design patent? Yes/No</a:t>
            </a:r>
          </a:p>
          <a:p>
            <a:pPr marL="285750" indent="-285750">
              <a:lnSpc>
                <a:spcPct val="150000"/>
              </a:lnSpc>
              <a:buFont typeface="Wingdings" pitchFamily="2" charset="2"/>
              <a:buChar char="§"/>
            </a:pPr>
            <a:r>
              <a:rPr lang="en-US" sz="1600" dirty="0">
                <a:latin typeface="Book Antiqua" pitchFamily="18" charset="0"/>
                <a:ea typeface="Verdana" pitchFamily="34" charset="0"/>
              </a:rPr>
              <a:t>Have you secured an office space or set up a home office? Yes/No</a:t>
            </a:r>
          </a:p>
          <a:p>
            <a:pPr marL="285750" indent="-285750">
              <a:lnSpc>
                <a:spcPct val="150000"/>
              </a:lnSpc>
              <a:buFont typeface="Wingdings" pitchFamily="2" charset="2"/>
              <a:buChar char="§"/>
            </a:pPr>
            <a:r>
              <a:rPr lang="en-US" sz="1600" dirty="0">
                <a:latin typeface="Book Antiqua" pitchFamily="18" charset="0"/>
                <a:ea typeface="Verdana" pitchFamily="34" charset="0"/>
              </a:rPr>
              <a:t>Have you acquired your first customers? Yes/No</a:t>
            </a:r>
          </a:p>
          <a:p>
            <a:pPr marL="285750" indent="-285750">
              <a:lnSpc>
                <a:spcPct val="150000"/>
              </a:lnSpc>
              <a:buFont typeface="Wingdings" pitchFamily="2" charset="2"/>
              <a:buChar char="§"/>
            </a:pPr>
            <a:r>
              <a:rPr lang="en-US" sz="1600" dirty="0">
                <a:latin typeface="Book Antiqua" pitchFamily="18" charset="0"/>
                <a:ea typeface="Verdana" pitchFamily="34" charset="0"/>
              </a:rPr>
              <a:t>Have you established relationships with key partners and business advisors?</a:t>
            </a:r>
          </a:p>
          <a:p>
            <a:pPr marL="285750" indent="-285750">
              <a:lnSpc>
                <a:spcPct val="150000"/>
              </a:lnSpc>
              <a:buFont typeface="Wingdings" pitchFamily="2" charset="2"/>
              <a:buChar char="§"/>
            </a:pPr>
            <a:r>
              <a:rPr lang="en-US" sz="1600" dirty="0">
                <a:latin typeface="Book Antiqua" pitchFamily="18" charset="0"/>
                <a:ea typeface="Verdana" pitchFamily="34" charset="0"/>
              </a:rPr>
              <a:t>Have you received any grants or assistance from state/central government schemes? If yes, please provide the details (grant amount, scheme name, and Nodal Institute).</a:t>
            </a:r>
          </a:p>
          <a:p>
            <a:pPr marL="285750" indent="-285750">
              <a:lnSpc>
                <a:spcPct val="150000"/>
              </a:lnSpc>
              <a:buFont typeface="Wingdings" pitchFamily="2" charset="2"/>
              <a:buChar char="§"/>
            </a:pPr>
            <a:r>
              <a:rPr lang="en-US" sz="1600" dirty="0">
                <a:latin typeface="Book Antiqua" pitchFamily="18" charset="0"/>
                <a:ea typeface="Verdana" pitchFamily="34" charset="0"/>
              </a:rPr>
              <a:t>Have you secured any grants or investment from private agencies or individuals?</a:t>
            </a:r>
          </a:p>
          <a:p>
            <a:pPr marL="285750" indent="-285750">
              <a:lnSpc>
                <a:spcPct val="150000"/>
              </a:lnSpc>
              <a:buFont typeface="Wingdings" pitchFamily="2" charset="2"/>
              <a:buChar char="§"/>
            </a:pPr>
            <a:r>
              <a:rPr lang="en-US" sz="1600" b="1" dirty="0">
                <a:latin typeface="Book Antiqua" pitchFamily="18" charset="0"/>
                <a:ea typeface="Verdana" pitchFamily="34" charset="0"/>
              </a:rPr>
              <a:t>What type of support is required from PIERC </a:t>
            </a:r>
            <a:r>
              <a:rPr lang="en-US" sz="1600" dirty="0">
                <a:latin typeface="Book Antiqua" pitchFamily="18" charset="0"/>
                <a:ea typeface="Verdana" pitchFamily="34" charset="0"/>
              </a:rPr>
              <a:t>?</a:t>
            </a:r>
          </a:p>
        </p:txBody>
      </p:sp>
      <p:sp>
        <p:nvSpPr>
          <p:cNvPr id="193" name="Google Shape;193;p15"/>
          <p:cNvSpPr txBox="1"/>
          <p:nvPr/>
        </p:nvSpPr>
        <p:spPr>
          <a:xfrm>
            <a:off x="2695366" y="279638"/>
            <a:ext cx="6643734" cy="892552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algn="ctr">
              <a:buClr>
                <a:srgbClr val="000000"/>
              </a:buClr>
              <a:buFont typeface="Arial"/>
              <a:buNone/>
            </a:pPr>
            <a:r>
              <a:rPr lang="en-US" sz="3600" b="1" kern="0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rPr>
              <a:t>MILESTONES</a:t>
            </a:r>
            <a:endParaRPr sz="3600" b="1" kern="0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  <a:p>
            <a:pPr algn="ctr">
              <a:buClr>
                <a:srgbClr val="000000"/>
              </a:buClr>
              <a:buFont typeface="Arial"/>
              <a:buNone/>
            </a:pPr>
            <a:endParaRPr sz="1600" kern="0">
              <a:solidFill>
                <a:srgbClr val="000000"/>
              </a:solidFill>
              <a:latin typeface="Candara"/>
              <a:ea typeface="Candara"/>
              <a:cs typeface="Candara"/>
              <a:sym typeface="Candara"/>
            </a:endParaRPr>
          </a:p>
        </p:txBody>
      </p:sp>
      <p:pic>
        <p:nvPicPr>
          <p:cNvPr id="14338" name="Picture 2" descr="C:\Users\HP\Downloads\PIERC 2.png"/>
          <p:cNvPicPr>
            <a:picLocks noChangeAspect="1" noChangeArrowheads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111001" y="181590"/>
            <a:ext cx="1714500" cy="990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3" name="Picture 2">
            <a:extLst>
              <a:ext uri="{FF2B5EF4-FFF2-40B4-BE49-F238E27FC236}">
                <a16:creationId xmlns:a16="http://schemas.microsoft.com/office/drawing/2014/main" id="{439C9A31-CFF4-CFFE-16B7-F0E65606D2C0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063" y="157962"/>
            <a:ext cx="2991394" cy="8254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78102774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416067-901A-CB2F-FDA1-05D6449005E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030942" y="2790124"/>
            <a:ext cx="9144000" cy="1277751"/>
          </a:xfrm>
        </p:spPr>
        <p:txBody>
          <a:bodyPr>
            <a:normAutofit fontScale="90000"/>
          </a:bodyPr>
          <a:lstStyle/>
          <a:p>
            <a:pPr algn="l"/>
            <a:r>
              <a:rPr lang="en-IN" sz="8000" b="1" dirty="0"/>
              <a:t>Thank you</a:t>
            </a:r>
          </a:p>
        </p:txBody>
      </p:sp>
      <p:pic>
        <p:nvPicPr>
          <p:cNvPr id="15362" name="Picture 2" descr="C:\Users\HP\Downloads\PIERC 2.png"/>
          <p:cNvPicPr>
            <a:picLocks noChangeAspect="1" noChangeArrowheads="1"/>
          </p:cNvPicPr>
          <p:nvPr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274774" y="108614"/>
            <a:ext cx="1714500" cy="99060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4" name="Picture 3">
            <a:extLst>
              <a:ext uri="{FF2B5EF4-FFF2-40B4-BE49-F238E27FC236}">
                <a16:creationId xmlns:a16="http://schemas.microsoft.com/office/drawing/2014/main" id="{D4FC8143-CB9B-C203-B817-D56B1B86E823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3063" y="157962"/>
            <a:ext cx="2991394" cy="8254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6154373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24</TotalTime>
  <Words>840</Words>
  <Application>Microsoft Office PowerPoint</Application>
  <PresentationFormat>Widescreen</PresentationFormat>
  <Paragraphs>119</Paragraphs>
  <Slides>17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4" baseType="lpstr">
      <vt:lpstr>Arial</vt:lpstr>
      <vt:lpstr>Book Antiqua</vt:lpstr>
      <vt:lpstr>Calibri</vt:lpstr>
      <vt:lpstr>Calibri Light</vt:lpstr>
      <vt:lpstr>Candara</vt:lpstr>
      <vt:lpstr>Wingdings</vt:lpstr>
      <vt:lpstr>Office Theme</vt:lpstr>
      <vt:lpstr>PowerPoint Presentation</vt:lpstr>
      <vt:lpstr>Pre Incubation Innovation / Startup Name</vt:lpstr>
      <vt:lpstr>Problem statement / Opportunity</vt:lpstr>
      <vt:lpstr>      Your Proposed Solution </vt:lpstr>
      <vt:lpstr>Differentiation  (How different from existing solution available in market?) </vt:lpstr>
      <vt:lpstr>Competitor Analysis </vt:lpstr>
      <vt:lpstr>Idea Validation from Customer/Experts </vt:lpstr>
      <vt:lpstr>Business Model </vt:lpstr>
      <vt:lpstr>Time Frame and Milestone for Execution</vt:lpstr>
      <vt:lpstr>PowerPoint Presentation</vt:lpstr>
      <vt:lpstr>PowerPoint Presentation</vt:lpstr>
      <vt:lpstr>Team and Achievement Highlights by now</vt:lpstr>
      <vt:lpstr>What stage is your startup at?</vt:lpstr>
      <vt:lpstr>PowerPoint Presentation</vt:lpstr>
      <vt:lpstr>      </vt:lpstr>
      <vt:lpstr>PowerPoint Presentation</vt:lpstr>
      <vt:lpstr>Thank you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HP</dc:creator>
  <cp:lastModifiedBy>Sonal Sudani</cp:lastModifiedBy>
  <cp:revision>6</cp:revision>
  <dcterms:modified xsi:type="dcterms:W3CDTF">2026-07-03T10:29:04Z</dcterms:modified>
</cp:coreProperties>
</file>